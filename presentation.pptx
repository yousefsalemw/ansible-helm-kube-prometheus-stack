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700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F46800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01200" y="3840480"/>
            <a:ext cx="4572000" cy="4572000"/>
          </a:xfrm>
          <a:prstGeom prst="ellipse">
            <a:avLst/>
          </a:prstGeom>
          <a:solidFill>
            <a:srgbClr val="5794F2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6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Engineer Diploma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kube-prometheus-stack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Ansible Playbook + CLI equivalent — لكل Task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3840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نشر منظومة مراقبة Kubernetes — كل خطوة بالـ Ansible وجنبها أمر الـ command line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Academy — IT training center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التحضير — تثبيت Helm وتجهيز Ansible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i="1" dirty="0">
                <a:solidFill>
                  <a:srgbClr val="F46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Prerequisites — Install Helm &amp; Ansible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955280" y="1371600"/>
            <a:ext cx="3749040" cy="4846320"/>
          </a:xfrm>
          <a:prstGeom prst="roundRect">
            <a:avLst>
              <a:gd name="adj" fmla="val 1463"/>
            </a:avLst>
          </a:prstGeom>
          <a:solidFill>
            <a:srgbClr val="1A20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92440" y="14630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F46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المهام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92440" y="1783080"/>
            <a:ext cx="347472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r" rtl="1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cluster (v1.28+)</a:t>
            </a:r>
            <a:endParaRPr lang="en-US" sz="1150" dirty="0"/>
          </a:p>
          <a:p>
            <a:pPr marL="152400" indent="-152400" algn="r" rtl="1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kubectl + kubeconfig شغّال</a:t>
            </a:r>
            <a:endParaRPr lang="en-US" sz="1150" dirty="0"/>
          </a:p>
          <a:p>
            <a:pPr marL="152400" indent="-152400" algn="r" rtl="1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 (snap على Ubuntu)</a:t>
            </a:r>
            <a:endParaRPr lang="en-US" sz="1150" dirty="0"/>
          </a:p>
          <a:p>
            <a:pPr marL="152400" indent="-152400" algn="r" rtl="1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+ collection</a:t>
            </a:r>
            <a:endParaRPr lang="en-US" sz="1150" dirty="0"/>
          </a:p>
          <a:p>
            <a:pPr marL="152400" indent="-152400" algn="r" rtl="1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صلاحيات Cluster Admin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7315200" cy="4846320"/>
          </a:xfrm>
          <a:prstGeom prst="roundRect">
            <a:avLst>
              <a:gd name="adj" fmla="val 1132"/>
            </a:avLst>
          </a:prstGeom>
          <a:solidFill>
            <a:srgbClr val="12161C"/>
          </a:solidFill>
          <a:ln w="12700">
            <a:solidFill>
              <a:srgbClr val="2A323D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1792" y="1499616"/>
            <a:ext cx="6986016" cy="4590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3FA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1) تثبيت Helm  (الأسهل على Ubuntu)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snap install helm --classic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FA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بديل رسمي لأي توزيعة: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FA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curl -fsSL https://raw.githubusercontent.com/\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FA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helm/helm/main/scripts/get-helm-3 | bash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helm version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FA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2) تجهيز Ansible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kubernetes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ansible-galaxy collection install kubernetes.core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FA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3) التأكد من الكلستر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nodes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ترويسة الـ Playbook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i="1" dirty="0">
                <a:solidFill>
                  <a:srgbClr val="F46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 header (shared)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12161C"/>
          </a:solidFill>
          <a:ln w="12700">
            <a:solidFill>
              <a:srgbClr val="2A323D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1591056"/>
            <a:ext cx="10917936" cy="440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Deploy and verify kube-prometheus-stack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579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hosts: localhost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579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connection: local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579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gather_facts: false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579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vars: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579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release_name: monitoring-stack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579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namespace: monitoring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579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chart_ref: prometheus-community/kube-prometheus-stack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579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tasks: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3FA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... كل التاسكات تحت الـ play ده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 — إعداد Helm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i="1" dirty="0">
                <a:solidFill>
                  <a:srgbClr val="F46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Helm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7315200" cy="4846320"/>
          </a:xfrm>
          <a:prstGeom prst="roundRect">
            <a:avLst>
              <a:gd name="adj" fmla="val 1132"/>
            </a:avLst>
          </a:prstGeom>
          <a:solidFill>
            <a:srgbClr val="12161C"/>
          </a:solidFill>
          <a:ln w="12700">
            <a:solidFill>
              <a:srgbClr val="2A323D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1499616"/>
            <a:ext cx="6986016" cy="4590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Add prometheus-community repo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kubernetes.core.helm_repository: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79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prometheus-community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79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repo_url: https://prometheus-community.github.io/helm-charts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Search chart (json)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ansible.builtin.command: &gt;-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helm search repo kube-prometheus-stack --output json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79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register: chart_search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79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changed_when: false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Show latest version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ansible.builtin.debug: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79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msg: "{{ (chart_search.stdout|from_json)[0].version }}"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55280" y="1371600"/>
            <a:ext cx="3749040" cy="2240280"/>
          </a:xfrm>
          <a:prstGeom prst="roundRect">
            <a:avLst>
              <a:gd name="adj" fmla="val 2449"/>
            </a:avLst>
          </a:prstGeom>
          <a:solidFill>
            <a:srgbClr val="1A20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92440" y="14630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F46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المهام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92440" y="178308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r" rtl="1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إضافة الـ repo</a:t>
            </a:r>
            <a:endParaRPr lang="en-US" sz="1150" dirty="0"/>
          </a:p>
          <a:p>
            <a:pPr marL="152400" indent="-152400" algn="r" rtl="1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تحديث الفهرس</a:t>
            </a:r>
            <a:endParaRPr lang="en-US" sz="1150" dirty="0"/>
          </a:p>
          <a:p>
            <a:pPr marL="152400" indent="-152400" algn="r" rtl="1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البحث عن الـ chart</a:t>
            </a:r>
            <a:endParaRPr lang="en-US" sz="1150" dirty="0"/>
          </a:p>
          <a:p>
            <a:pPr marL="152400" indent="-152400" algn="r" rtl="1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تسجيل أحدث نسخة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955280" y="3794760"/>
            <a:ext cx="3749040" cy="2423160"/>
          </a:xfrm>
          <a:prstGeom prst="roundRect">
            <a:avLst>
              <a:gd name="adj" fmla="val 2264"/>
            </a:avLst>
          </a:prstGeom>
          <a:solidFill>
            <a:srgbClr val="12161C"/>
          </a:solidFill>
          <a:ln w="12700">
            <a:solidFill>
              <a:srgbClr val="2A32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119872" y="3886200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3FA0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أمر الـ CLI المقابل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19872" y="4206240"/>
            <a:ext cx="34198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helm repo add prometheus-community \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https://prometheus-community.github.io/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helm-charts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helm repo update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helm search repo kube-prometheus-stack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 — تجهيز الـ Namespace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i="1" dirty="0">
                <a:solidFill>
                  <a:srgbClr val="F46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the namespace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7315200" cy="4846320"/>
          </a:xfrm>
          <a:prstGeom prst="roundRect">
            <a:avLst>
              <a:gd name="adj" fmla="val 1132"/>
            </a:avLst>
          </a:prstGeom>
          <a:solidFill>
            <a:srgbClr val="12161C"/>
          </a:solidFill>
          <a:ln w="12700">
            <a:solidFill>
              <a:srgbClr val="2A323D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1499616"/>
            <a:ext cx="6986016" cy="4590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Create monitoring namespace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kubernetes.core.k8s: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79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api_version: v1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79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kind: Namespace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79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"{{ namespace }}"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79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state: present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Verify namespace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kubernetes.core.k8s_info: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79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kind: Namespace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79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"{{ namespace }}"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79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register: ns_info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955280" y="1371600"/>
            <a:ext cx="3749040" cy="2240280"/>
          </a:xfrm>
          <a:prstGeom prst="roundRect">
            <a:avLst>
              <a:gd name="adj" fmla="val 2449"/>
            </a:avLst>
          </a:prstGeom>
          <a:solidFill>
            <a:srgbClr val="1A20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92440" y="14630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F46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المهام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92440" y="178308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r" rtl="1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إنشاء namespace monitoring</a:t>
            </a:r>
            <a:endParaRPr lang="en-US" sz="1150" dirty="0"/>
          </a:p>
          <a:p>
            <a:pPr marL="152400" indent="-152400" algn="r" rtl="1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التأكد إنه اتعمل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955280" y="3794760"/>
            <a:ext cx="3749040" cy="2423160"/>
          </a:xfrm>
          <a:prstGeom prst="roundRect">
            <a:avLst>
              <a:gd name="adj" fmla="val 2264"/>
            </a:avLst>
          </a:prstGeom>
          <a:solidFill>
            <a:srgbClr val="12161C"/>
          </a:solidFill>
          <a:ln w="12700">
            <a:solidFill>
              <a:srgbClr val="2A32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119872" y="3886200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3FA0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أمر الـ CLI المقابل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19872" y="4206240"/>
            <a:ext cx="34198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create namespace monitoring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namespace monitoring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 — نشر الـ Stack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i="1" dirty="0">
                <a:solidFill>
                  <a:srgbClr val="F46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the stack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7315200" cy="4846320"/>
          </a:xfrm>
          <a:prstGeom prst="roundRect">
            <a:avLst>
              <a:gd name="adj" fmla="val 1132"/>
            </a:avLst>
          </a:prstGeom>
          <a:solidFill>
            <a:srgbClr val="12161C"/>
          </a:solidFill>
          <a:ln w="12700">
            <a:solidFill>
              <a:srgbClr val="2A323D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1499616"/>
            <a:ext cx="6986016" cy="4590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Deploy kube-prometheus-stack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kubernetes.core.helm: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79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"{{ release_name }}"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79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chart_ref: "{{ chart_ref }}"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79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release_namespace: "{{ namespace }}"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79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create_namespace: true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79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update_repo_cache: true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79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wait: true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79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timeout: 10m0s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955280" y="1371600"/>
            <a:ext cx="3749040" cy="2240280"/>
          </a:xfrm>
          <a:prstGeom prst="roundRect">
            <a:avLst>
              <a:gd name="adj" fmla="val 2449"/>
            </a:avLst>
          </a:prstGeom>
          <a:solidFill>
            <a:srgbClr val="1A20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92440" y="14630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F46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المهام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92440" y="178308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r" rtl="1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release=monitoring-stack</a:t>
            </a:r>
            <a:endParaRPr lang="en-US" sz="1150" dirty="0"/>
          </a:p>
          <a:p>
            <a:pPr marL="152400" indent="-152400" algn="r" rtl="1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namespace=monitoring</a:t>
            </a:r>
            <a:endParaRPr lang="en-US" sz="1150" dirty="0"/>
          </a:p>
          <a:p>
            <a:pPr marL="152400" indent="-152400" algn="r" rtl="1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أحدث نسخة</a:t>
            </a:r>
            <a:endParaRPr lang="en-US" sz="1150" dirty="0"/>
          </a:p>
          <a:p>
            <a:pPr marL="152400" indent="-152400" algn="r" rtl="1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حتى يخلّص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955280" y="3794760"/>
            <a:ext cx="3749040" cy="2423160"/>
          </a:xfrm>
          <a:prstGeom prst="roundRect">
            <a:avLst>
              <a:gd name="adj" fmla="val 2264"/>
            </a:avLst>
          </a:prstGeom>
          <a:solidFill>
            <a:srgbClr val="12161C"/>
          </a:solidFill>
          <a:ln w="12700">
            <a:solidFill>
              <a:srgbClr val="2A32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119872" y="3886200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3FA0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أمر الـ CLI المقابل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19872" y="4206240"/>
            <a:ext cx="34198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helm install monitoring-stack \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prometheus-community/\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kube-prometheus-stack \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-n monitoring --create-namespace \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--wait --timeout 10m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— التحقق من التثبيت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i="1" dirty="0">
                <a:solidFill>
                  <a:srgbClr val="F46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the installation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7315200" cy="4846320"/>
          </a:xfrm>
          <a:prstGeom prst="roundRect">
            <a:avLst>
              <a:gd name="adj" fmla="val 1132"/>
            </a:avLst>
          </a:prstGeom>
          <a:solidFill>
            <a:srgbClr val="12161C"/>
          </a:solidFill>
          <a:ln w="12700">
            <a:solidFill>
              <a:srgbClr val="2A323D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1499616"/>
            <a:ext cx="6986016" cy="4590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Collect core resources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kubernetes.core.k8s_info: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79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kind: "{{ item }}"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79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namespace: "{{ namespace }}"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79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loop: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Pod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Deployment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StatefulSet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DaemonSet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Service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ConfigMap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Secret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ServiceAccount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79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register: resources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55280" y="1371600"/>
            <a:ext cx="3749040" cy="2240280"/>
          </a:xfrm>
          <a:prstGeom prst="roundRect">
            <a:avLst>
              <a:gd name="adj" fmla="val 2449"/>
            </a:avLst>
          </a:prstGeom>
          <a:solidFill>
            <a:srgbClr val="1A20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92440" y="14630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F46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المهام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92440" y="178308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r" rtl="1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الـ Pods Running</a:t>
            </a:r>
            <a:endParaRPr lang="en-US" sz="1150" dirty="0"/>
          </a:p>
          <a:p>
            <a:pPr marL="152400" indent="-152400" algn="r" rtl="1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فحص كل الموارد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955280" y="3794760"/>
            <a:ext cx="3749040" cy="2423160"/>
          </a:xfrm>
          <a:prstGeom prst="roundRect">
            <a:avLst>
              <a:gd name="adj" fmla="val 2264"/>
            </a:avLst>
          </a:prstGeom>
          <a:solidFill>
            <a:srgbClr val="12161C"/>
          </a:solidFill>
          <a:ln w="12700">
            <a:solidFill>
              <a:srgbClr val="2A32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119872" y="3886200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3FA0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أمر الـ CLI المقابل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19872" y="4206240"/>
            <a:ext cx="34198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pods,deployments,\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statefulsets,daemonsets -n monitoring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svc,configmaps,\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secrets,serviceaccounts -n monitoring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5 — مكوّنات الـ Stack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i="1" dirty="0">
                <a:solidFill>
                  <a:srgbClr val="F46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stack components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0" cy="1005840"/>
          </a:xfrm>
          <a:prstGeom prst="roundRect">
            <a:avLst>
              <a:gd name="adj" fmla="val 5455"/>
            </a:avLst>
          </a:prstGeom>
          <a:solidFill>
            <a:srgbClr val="1A2029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4904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46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Prometheus Server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470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يجمع ويخزّن الـ metrics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371600"/>
            <a:ext cx="3657600" cy="1005840"/>
          </a:xfrm>
          <a:prstGeom prst="roundRect">
            <a:avLst>
              <a:gd name="adj" fmla="val 5455"/>
            </a:avLst>
          </a:prstGeom>
          <a:solidFill>
            <a:srgbClr val="1A2029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480560" y="14904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46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Grafana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80560" y="18470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واجهة الـ dashboards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0" y="1371600"/>
            <a:ext cx="3657600" cy="1005840"/>
          </a:xfrm>
          <a:prstGeom prst="roundRect">
            <a:avLst>
              <a:gd name="adj" fmla="val 5455"/>
            </a:avLst>
          </a:prstGeom>
          <a:solidFill>
            <a:srgbClr val="1A2029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321040" y="14904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46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Alertmanager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21040" y="18470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يوجّه التنبيهات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3657600" cy="1005840"/>
          </a:xfrm>
          <a:prstGeom prst="roundRect">
            <a:avLst>
              <a:gd name="adj" fmla="val 5455"/>
            </a:avLst>
          </a:prstGeom>
          <a:solidFill>
            <a:srgbClr val="1A2029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6791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46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kube-state-metrics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03580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حالة كائنات K8s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97680" y="2560320"/>
            <a:ext cx="3657600" cy="1005840"/>
          </a:xfrm>
          <a:prstGeom prst="roundRect">
            <a:avLst>
              <a:gd name="adj" fmla="val 5455"/>
            </a:avLst>
          </a:prstGeom>
          <a:solidFill>
            <a:srgbClr val="1A2029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480560" y="26791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46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Prometheus Operator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80560" y="303580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يدير المنظومة (CRDs)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38160" y="2560320"/>
            <a:ext cx="3657600" cy="1005840"/>
          </a:xfrm>
          <a:prstGeom prst="roundRect">
            <a:avLst>
              <a:gd name="adj" fmla="val 5455"/>
            </a:avLst>
          </a:prstGeom>
          <a:solidFill>
            <a:srgbClr val="1A2029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321040" y="26791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46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Exporter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21040" y="303580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الـ node/OS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11247120" cy="2194560"/>
          </a:xfrm>
          <a:prstGeom prst="roundRect">
            <a:avLst>
              <a:gd name="adj" fmla="val 2500"/>
            </a:avLst>
          </a:prstGeom>
          <a:solidFill>
            <a:srgbClr val="12161C"/>
          </a:solidFill>
          <a:ln w="12700">
            <a:solidFill>
              <a:srgbClr val="2A32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1792" y="4069080"/>
            <a:ext cx="10917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3FA0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أمر الـ CLI المقابل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" y="4389120"/>
            <a:ext cx="1091793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FA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Admission Webhooks: validating/mutating webhook configs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all -n monitoring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daemonset,statefulset,deployment -n monitoring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validatingwebhookconfigurations | grep prometheus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6 — استكشاف الـ Release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i="1" dirty="0">
                <a:solidFill>
                  <a:srgbClr val="F46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the Helm release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7315200" cy="4846320"/>
          </a:xfrm>
          <a:prstGeom prst="roundRect">
            <a:avLst>
              <a:gd name="adj" fmla="val 1132"/>
            </a:avLst>
          </a:prstGeom>
          <a:solidFill>
            <a:srgbClr val="12161C"/>
          </a:solidFill>
          <a:ln w="12700">
            <a:solidFill>
              <a:srgbClr val="2A323D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1499616"/>
            <a:ext cx="6986016" cy="4590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Get release info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kubernetes.core.helm_info: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79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"{{ release_name }}"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79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release_namespace: "{{ namespace }}"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79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register: rel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Show summary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ansible.builtin.debug: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79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msg: &gt;-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{{ rel.status.name }} {{ rel.status.chart }}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Rev={{ rel.status.revision }}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{{ rel.status.status }}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955280" y="1371600"/>
            <a:ext cx="3749040" cy="2240280"/>
          </a:xfrm>
          <a:prstGeom prst="roundRect">
            <a:avLst>
              <a:gd name="adj" fmla="val 2449"/>
            </a:avLst>
          </a:prstGeom>
          <a:solidFill>
            <a:srgbClr val="1A20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92440" y="14630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F46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المهام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92440" y="178308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r" rtl="1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/ Namespace</a:t>
            </a:r>
            <a:endParaRPr lang="en-US" sz="1150" dirty="0"/>
          </a:p>
          <a:p>
            <a:pPr marL="152400" indent="-152400" algn="r" rtl="1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/ AppVersion</a:t>
            </a:r>
            <a:endParaRPr lang="en-US" sz="1150" dirty="0"/>
          </a:p>
          <a:p>
            <a:pPr marL="152400" indent="-152400" algn="r" rtl="1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Revision / Status</a:t>
            </a:r>
            <a:endParaRPr lang="en-US" sz="1150" dirty="0"/>
          </a:p>
          <a:p>
            <a:pPr marL="152400" indent="-152400" algn="r" rtl="1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Time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955280" y="3794760"/>
            <a:ext cx="3749040" cy="2423160"/>
          </a:xfrm>
          <a:prstGeom prst="roundRect">
            <a:avLst>
              <a:gd name="adj" fmla="val 2264"/>
            </a:avLst>
          </a:prstGeom>
          <a:solidFill>
            <a:srgbClr val="12161C"/>
          </a:solidFill>
          <a:ln w="12700">
            <a:solidFill>
              <a:srgbClr val="2A32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119872" y="3886200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3FA0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أمر الـ CLI المقابل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19872" y="4206240"/>
            <a:ext cx="34198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helm list -n monitoring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helm status monitoring-stack \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-n monitoring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7 — الوصول لـ Grafana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i="1" dirty="0">
                <a:solidFill>
                  <a:srgbClr val="F46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Grafana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7315200" cy="4846320"/>
          </a:xfrm>
          <a:prstGeom prst="roundRect">
            <a:avLst>
              <a:gd name="adj" fmla="val 1132"/>
            </a:avLst>
          </a:prstGeom>
          <a:solidFill>
            <a:srgbClr val="12161C"/>
          </a:solidFill>
          <a:ln w="12700">
            <a:solidFill>
              <a:srgbClr val="2A323D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1499616"/>
            <a:ext cx="6986016" cy="4590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Read grafana admin secret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kubernetes.core.k8s_info: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79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kind: Secret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79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"{{ release_name }}-grafana"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79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namespace: "{{ namespace }}"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79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register: gsec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Show admin password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ansible.builtin.debug: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79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msg: "{{ gsec.resources[0].data\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['admin-password'] | b64decode }}"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55280" y="1371600"/>
            <a:ext cx="3749040" cy="2240280"/>
          </a:xfrm>
          <a:prstGeom prst="roundRect">
            <a:avLst>
              <a:gd name="adj" fmla="val 2449"/>
            </a:avLst>
          </a:prstGeom>
          <a:solidFill>
            <a:srgbClr val="1A20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92440" y="14630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F46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المهام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92440" y="178308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r" rtl="1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فتح الواجهة</a:t>
            </a:r>
            <a:endParaRPr lang="en-US" sz="1150" dirty="0"/>
          </a:p>
          <a:p>
            <a:pPr marL="152400" indent="-152400" algn="r" rtl="1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باسورد admin</a:t>
            </a:r>
            <a:endParaRPr lang="en-US" sz="1150" dirty="0"/>
          </a:p>
          <a:p>
            <a:pPr marL="152400" indent="-152400" algn="r" rtl="1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تسجيل الدخول</a:t>
            </a:r>
            <a:endParaRPr lang="en-US" sz="1150" dirty="0"/>
          </a:p>
          <a:p>
            <a:pPr marL="152400" indent="-152400" algn="r" rtl="1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= default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955280" y="3794760"/>
            <a:ext cx="3749040" cy="2423160"/>
          </a:xfrm>
          <a:prstGeom prst="roundRect">
            <a:avLst>
              <a:gd name="adj" fmla="val 2264"/>
            </a:avLst>
          </a:prstGeom>
          <a:solidFill>
            <a:srgbClr val="12161C"/>
          </a:solidFill>
          <a:ln w="12700">
            <a:solidFill>
              <a:srgbClr val="2A32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119872" y="3886200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3FA0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أمر الـ CLI المقابل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19872" y="4206240"/>
            <a:ext cx="34198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secret -n monitoring \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monitoring-stack-grafana -o \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jsonpath='{.data.admin-password}'\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base64 -d ; echo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port-forward -n monitoring \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svc/monitoring-stack-grafana 3000:80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8 — الوصول لـ Prometheus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i="1" dirty="0">
                <a:solidFill>
                  <a:srgbClr val="F46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Prometheus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7315200" cy="4846320"/>
          </a:xfrm>
          <a:prstGeom prst="roundRect">
            <a:avLst>
              <a:gd name="adj" fmla="val 1132"/>
            </a:avLst>
          </a:prstGeom>
          <a:solidFill>
            <a:srgbClr val="12161C"/>
          </a:solidFill>
          <a:ln w="12700">
            <a:solidFill>
              <a:srgbClr val="2A323D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1499616"/>
            <a:ext cx="6986016" cy="4590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Print port-forward command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ansible.builtin.debug: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79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msg: &gt;-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kubectl port-forward -n {{ namespace }}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svc/{{ release_name }}-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kube-prom-prometheus 9090:9090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A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المتصفح: http://localhost:9090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A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Status &gt; Targets / Service Discovery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A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PromQL:  up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55280" y="1371600"/>
            <a:ext cx="3749040" cy="2240280"/>
          </a:xfrm>
          <a:prstGeom prst="roundRect">
            <a:avLst>
              <a:gd name="adj" fmla="val 2449"/>
            </a:avLst>
          </a:prstGeom>
          <a:solidFill>
            <a:srgbClr val="1A20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92440" y="14630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F46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المهام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92440" y="178308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r" rtl="1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فتح الواجهة</a:t>
            </a:r>
            <a:endParaRPr lang="en-US" sz="1150" dirty="0"/>
          </a:p>
          <a:p>
            <a:pPr marL="152400" indent="-152400" algn="r" rtl="1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تصفّح Targets</a:t>
            </a:r>
            <a:endParaRPr lang="en-US" sz="1150" dirty="0"/>
          </a:p>
          <a:p>
            <a:pPr marL="152400" indent="-152400" algn="r" rtl="1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Discovery</a:t>
            </a:r>
            <a:endParaRPr lang="en-US" sz="1150" dirty="0"/>
          </a:p>
          <a:p>
            <a:pPr marL="152400" indent="-152400" algn="r" rtl="1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تنفيذ PromQL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955280" y="3794760"/>
            <a:ext cx="3749040" cy="2423160"/>
          </a:xfrm>
          <a:prstGeom prst="roundRect">
            <a:avLst>
              <a:gd name="adj" fmla="val 2264"/>
            </a:avLst>
          </a:prstGeom>
          <a:solidFill>
            <a:srgbClr val="12161C"/>
          </a:solidFill>
          <a:ln w="12700">
            <a:solidFill>
              <a:srgbClr val="2A32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119872" y="3886200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3FA0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أمر الـ CLI المقابل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19872" y="4206240"/>
            <a:ext cx="34198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port-forward -n monitoring \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svc/monitoring-stack-\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kube-prom-prometheus 9090:9090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3FA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UI: Status &gt; Targets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3FA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PromQL: up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9 — التحقق من الـ Targets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i="1" dirty="0">
                <a:solidFill>
                  <a:srgbClr val="F46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monitoring targets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7315200" cy="4846320"/>
          </a:xfrm>
          <a:prstGeom prst="roundRect">
            <a:avLst>
              <a:gd name="adj" fmla="val 1132"/>
            </a:avLst>
          </a:prstGeom>
          <a:solidFill>
            <a:srgbClr val="12161C"/>
          </a:solidFill>
          <a:ln w="12700">
            <a:solidFill>
              <a:srgbClr val="2A323D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1499616"/>
            <a:ext cx="6986016" cy="4590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Expected targets (UP)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ansible.builtin.debug: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79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msg: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Kubernetes API Server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kubelet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CoreDNS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kube-state-metrics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Node Exporter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Prometheus Operator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Prometheus Server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55280" y="1371600"/>
            <a:ext cx="3749040" cy="2240280"/>
          </a:xfrm>
          <a:prstGeom prst="roundRect">
            <a:avLst>
              <a:gd name="adj" fmla="val 2449"/>
            </a:avLst>
          </a:prstGeom>
          <a:solidFill>
            <a:srgbClr val="1A20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92440" y="14630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F46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المهام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92440" y="178308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r" rtl="1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Server / kubelet</a:t>
            </a:r>
            <a:endParaRPr lang="en-US" sz="1150" dirty="0"/>
          </a:p>
          <a:p>
            <a:pPr marL="152400" indent="-152400" algn="r" rtl="1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CoreDNS / KSM</a:t>
            </a:r>
            <a:endParaRPr lang="en-US" sz="1150" dirty="0"/>
          </a:p>
          <a:p>
            <a:pPr marL="152400" indent="-152400" algn="r" rtl="1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Exporter</a:t>
            </a:r>
            <a:endParaRPr lang="en-US" sz="1150" dirty="0"/>
          </a:p>
          <a:p>
            <a:pPr marL="152400" indent="-152400" algn="r" rtl="1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/ Server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955280" y="3794760"/>
            <a:ext cx="3749040" cy="2423160"/>
          </a:xfrm>
          <a:prstGeom prst="roundRect">
            <a:avLst>
              <a:gd name="adj" fmla="val 2264"/>
            </a:avLst>
          </a:prstGeom>
          <a:solidFill>
            <a:srgbClr val="12161C"/>
          </a:solidFill>
          <a:ln w="12700">
            <a:solidFill>
              <a:srgbClr val="2A32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119872" y="3886200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3FA0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أمر الـ CLI المقابل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19872" y="4206240"/>
            <a:ext cx="34198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FA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من واجهة Prometheus: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3FA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Status &gt; Targets  (كلهم UP)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3FA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PromQL: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        # 1 = UP , 0 = DOWN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10 — الـ Custom Resources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i="1" dirty="0">
                <a:solidFill>
                  <a:srgbClr val="F46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CRDs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7315200" cy="4846320"/>
          </a:xfrm>
          <a:prstGeom prst="roundRect">
            <a:avLst>
              <a:gd name="adj" fmla="val 1132"/>
            </a:avLst>
          </a:prstGeom>
          <a:solidFill>
            <a:srgbClr val="12161C"/>
          </a:solidFill>
          <a:ln w="12700">
            <a:solidFill>
              <a:srgbClr val="2A323D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1499616"/>
            <a:ext cx="6986016" cy="4590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List operator CRDs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kubernetes.core.k8s_info: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79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kind: CustomResourceDefinition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79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register: crds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Show monitoring CRDs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ansible.builtin.debug: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79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msg: "{{ crds.resources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| map(attribute='metadata.name')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| select('search',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'monitoring.coreos.com') | list }}"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55280" y="1371600"/>
            <a:ext cx="3749040" cy="2240280"/>
          </a:xfrm>
          <a:prstGeom prst="roundRect">
            <a:avLst>
              <a:gd name="adj" fmla="val 2449"/>
            </a:avLst>
          </a:prstGeom>
          <a:solidFill>
            <a:srgbClr val="1A20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92440" y="14630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F46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المهام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92440" y="178308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r" rtl="1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فحص الـ CRDs</a:t>
            </a:r>
            <a:endParaRPr lang="en-US" sz="1150" dirty="0"/>
          </a:p>
          <a:p>
            <a:pPr marL="152400" indent="-152400" algn="r" rtl="1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Prometheus/Alertmanager</a:t>
            </a:r>
            <a:endParaRPr lang="en-US" sz="1150" dirty="0"/>
          </a:p>
          <a:p>
            <a:pPr marL="152400" indent="-152400" algn="r" rtl="1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ServiceMonitor/PodMonitor</a:t>
            </a:r>
            <a:endParaRPr lang="en-US" sz="1150" dirty="0"/>
          </a:p>
          <a:p>
            <a:pPr marL="152400" indent="-152400" algn="r" rtl="1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Probe/Rule/Thanos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955280" y="3794760"/>
            <a:ext cx="3749040" cy="2423160"/>
          </a:xfrm>
          <a:prstGeom prst="roundRect">
            <a:avLst>
              <a:gd name="adj" fmla="val 2264"/>
            </a:avLst>
          </a:prstGeom>
          <a:solidFill>
            <a:srgbClr val="12161C"/>
          </a:solidFill>
          <a:ln w="12700">
            <a:solidFill>
              <a:srgbClr val="2A32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119872" y="3886200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3FA0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أمر الـ CLI المقابل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19872" y="4206240"/>
            <a:ext cx="34198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crds | grep \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monitoring.coreos.com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prometheus,\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alertmanager,servicemonitor,\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podmonitor -n monitoring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11 — نشر تطبيق تجريبي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i="1" dirty="0">
                <a:solidFill>
                  <a:srgbClr val="F46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a sample application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7315200" cy="4846320"/>
          </a:xfrm>
          <a:prstGeom prst="roundRect">
            <a:avLst>
              <a:gd name="adj" fmla="val 1132"/>
            </a:avLst>
          </a:prstGeom>
          <a:solidFill>
            <a:srgbClr val="12161C"/>
          </a:solidFill>
          <a:ln w="12700">
            <a:solidFill>
              <a:srgbClr val="2A323D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1499616"/>
            <a:ext cx="6986016" cy="4590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Deploy sample nginx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kubernetes.core.k8s: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79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state: present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79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definition: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apiVersion: apps/v1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79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kind: Deployment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79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metadata: { name: web, namespace: demo }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79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spec: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79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replicas: 2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79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selector: { matchLabels: { app: web } }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79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template: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79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metadata: { labels: { app: web } }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79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spec: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79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containers: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- { name: nginx, image: nginx }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955280" y="1371600"/>
            <a:ext cx="3749040" cy="2240280"/>
          </a:xfrm>
          <a:prstGeom prst="roundRect">
            <a:avLst>
              <a:gd name="adj" fmla="val 2449"/>
            </a:avLst>
          </a:prstGeom>
          <a:solidFill>
            <a:srgbClr val="1A20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92440" y="14630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F46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المهام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92440" y="178308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r" rtl="1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 demo</a:t>
            </a:r>
            <a:endParaRPr lang="en-US" sz="1150" dirty="0"/>
          </a:p>
          <a:p>
            <a:pPr marL="152400" indent="-152400" algn="r" rtl="1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(2 replicas)</a:t>
            </a:r>
            <a:endParaRPr lang="en-US" sz="1150" dirty="0"/>
          </a:p>
          <a:p>
            <a:pPr marL="152400" indent="-152400" algn="r" rtl="1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التأكد من الـ Pods</a:t>
            </a:r>
            <a:endParaRPr lang="en-US" sz="1150" dirty="0"/>
          </a:p>
          <a:p>
            <a:pPr marL="152400" indent="-152400" algn="r" rtl="1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التأكد من الـ Service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955280" y="3794760"/>
            <a:ext cx="3749040" cy="2423160"/>
          </a:xfrm>
          <a:prstGeom prst="roundRect">
            <a:avLst>
              <a:gd name="adj" fmla="val 2264"/>
            </a:avLst>
          </a:prstGeom>
          <a:solidFill>
            <a:srgbClr val="12161C"/>
          </a:solidFill>
          <a:ln w="12700">
            <a:solidFill>
              <a:srgbClr val="2A32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119872" y="3886200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3FA0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أمر الـ CLI المقابل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19872" y="4206240"/>
            <a:ext cx="34198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create namespace demo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create deployment web \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--image=nginx --replicas=2 -n demo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expose deployment web \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--port=80 -n demo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pods,svc -n demo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8346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34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النتائج — Verification &amp; Dashboards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F46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شرائح جاهزة لإدراج لقطات Grafana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النتيجة — Prometheus /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i="1" dirty="0">
                <a:solidFill>
                  <a:srgbClr val="F46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Stats · Targets · Retrieval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881360" cy="4572000"/>
          </a:xfrm>
          <a:prstGeom prst="roundRect">
            <a:avLst>
              <a:gd name="adj" fmla="val 1600"/>
            </a:avLst>
          </a:prstGeom>
          <a:solidFill>
            <a:srgbClr val="232B36"/>
          </a:solidFill>
          <a:ln w="12700">
            <a:solidFill>
              <a:srgbClr val="38425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22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ضع لقطة الشاشة هنا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يظهر فيها: Targets كلها UP، Scrape interval، Appended samples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النتيجة — Node Exporter / Nodes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i="1" dirty="0">
                <a:solidFill>
                  <a:srgbClr val="F46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· Memory · Disk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881360" cy="4572000"/>
          </a:xfrm>
          <a:prstGeom prst="roundRect">
            <a:avLst>
              <a:gd name="adj" fmla="val 1600"/>
            </a:avLst>
          </a:prstGeom>
          <a:solidFill>
            <a:srgbClr val="232B36"/>
          </a:solidFill>
          <a:ln w="12700">
            <a:solidFill>
              <a:srgbClr val="38425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22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ضع لقطة الشاشة هنا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الـ node: استهلاك الـ CPU والـ RAM والـ Disk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النتيجة — Dashboards List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i="1" dirty="0">
                <a:solidFill>
                  <a:srgbClr val="F46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&amp; Node Exporter mixins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881360" cy="4572000"/>
          </a:xfrm>
          <a:prstGeom prst="roundRect">
            <a:avLst>
              <a:gd name="adj" fmla="val 1600"/>
            </a:avLst>
          </a:prstGeom>
          <a:solidFill>
            <a:srgbClr val="232B36"/>
          </a:solidFill>
          <a:ln w="12700">
            <a:solidFill>
              <a:srgbClr val="38425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22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ضع لقطة الشاشة هنا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قائمة الـ dashboards الجاهزة مع الـ stack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التشغيل والتنظيف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i="1" dirty="0">
                <a:solidFill>
                  <a:srgbClr val="F46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&amp; cleanup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1247120" cy="3840480"/>
          </a:xfrm>
          <a:prstGeom prst="roundRect">
            <a:avLst>
              <a:gd name="adj" fmla="val 1429"/>
            </a:avLst>
          </a:prstGeom>
          <a:solidFill>
            <a:srgbClr val="12161C"/>
          </a:solidFill>
          <a:ln w="12700">
            <a:solidFill>
              <a:srgbClr val="2A323D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1591056"/>
            <a:ext cx="10917936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FA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تشغيل الـ playbook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ansible-playbook kube-prometheus-stack.yml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ansible-playbook kube-prometheus-stack.yml --syntax-check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FA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الحذف بعد الانتهاء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helm uninstall monitoring-stack -n monitoring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8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delete namespace monitoring demo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Academy — DevOps Engineer Diploma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1617</Words>
  <Application>Microsoft Office PowerPoint</Application>
  <PresentationFormat>Widescreen</PresentationFormat>
  <Paragraphs>341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kube-prometheus-stack with Ansible + CLI</dc:title>
  <dc:subject>PptxGenJS Presentation</dc:subject>
  <dc:creator>Senior Academy</dc:creator>
  <cp:lastModifiedBy>Yousef Alnaqib</cp:lastModifiedBy>
  <cp:revision>1</cp:revision>
  <dcterms:created xsi:type="dcterms:W3CDTF">2026-06-27T11:23:37Z</dcterms:created>
  <dcterms:modified xsi:type="dcterms:W3CDTF">2026-06-27T11:33:28Z</dcterms:modified>
</cp:coreProperties>
</file>